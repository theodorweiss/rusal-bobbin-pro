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5C6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ХАКАТОН МФТИ × РУСАЛ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Оптимизация </a:t>
            </a:r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раскроя</a:t>
            </a:r>
            <a:pPr algn="ctr" indent="0" marL="0">
              <a:lnSpc>
                <a:spcPct val="105000"/>
              </a:lnSpc>
              <a:buNone/>
            </a:pPr>
            <a:endParaRPr lang="en-US" sz="3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алюминиевой фольги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371600" y="27432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  •  Снижение отходов  •  Визуализация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371600" y="338328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21830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8840" y="35204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749040" y="338328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21830"/>
          </a:solidFill>
          <a:ln w="12700">
            <a:solidFill>
              <a:srgbClr val="FF91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35204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4904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Минимум отходов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26480" y="3383280"/>
            <a:ext cx="2011680" cy="1097280"/>
          </a:xfrm>
          <a:prstGeom prst="roundRect">
            <a:avLst>
              <a:gd name="adj" fmla="val 6667"/>
            </a:avLst>
          </a:prstGeom>
          <a:solidFill>
            <a:srgbClr val="121830"/>
          </a:solidFill>
          <a:ln w="12700">
            <a:solidFill>
              <a:srgbClr val="7C4D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35204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40233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Визуализация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ПРОБЛЕМА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текущий подход неэффективен?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21830"/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002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1732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Ручное планирование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17320" y="1828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заказов опирается на опыт инженеров — процесс субъективен и медленен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514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21830"/>
          </a:solidFill>
          <a:ln w="12700">
            <a:solidFill>
              <a:srgbClr val="FF910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2624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Сложные ограничения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417320" y="2971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 заказов, межкройный рез, кромка, разные сплавы и толщины — всё нужно учесть одновременно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121830"/>
          </a:solidFill>
          <a:ln w="12700">
            <a:solidFill>
              <a:srgbClr val="FF525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88620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767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Потери материала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1417320" y="41148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15–20% фольги уходит в обрезки из-за неоптимального размещения заказов на полосе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ПОСТАНОВКА ЗАДАЧИ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нужно оптимизировать?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3840480" cy="2286000"/>
          </a:xfrm>
          <a:prstGeom prst="roundRect">
            <a:avLst>
              <a:gd name="adj" fmla="val 3200"/>
            </a:avLst>
          </a:prstGeom>
          <a:solidFill>
            <a:srgbClr val="1218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БОБИНА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1500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мм ширина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1783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10 000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246888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 длина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сплав и толщина определяют сортность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0" y="1280160"/>
            <a:ext cx="4114800" cy="2286000"/>
          </a:xfrm>
          <a:prstGeom prst="roundRect">
            <a:avLst>
              <a:gd name="adj" fmla="val 3200"/>
            </a:avLst>
          </a:prstGeom>
          <a:solidFill>
            <a:srgbClr val="12183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13716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ОГРАНИЧЕНИЯ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1874520"/>
            <a:ext cx="137160" cy="137160"/>
          </a:xfrm>
          <a:prstGeom prst="ellipse">
            <a:avLst/>
          </a:prstGeom>
          <a:solidFill>
            <a:srgbClr val="FF9100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1810512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Приоритеты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66560" y="181051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1-я очередь, потом спутники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304288"/>
            <a:ext cx="137160" cy="137160"/>
          </a:xfrm>
          <a:prstGeom prst="ellipse">
            <a:avLst/>
          </a:prstGeom>
          <a:solidFill>
            <a:srgbClr val="FF9100"/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22402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Межкройный рез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240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зазор между заказами (из справочника)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734056"/>
            <a:ext cx="137160" cy="137160"/>
          </a:xfrm>
          <a:prstGeom prst="ellipse">
            <a:avLst/>
          </a:prstGeom>
          <a:solidFill>
            <a:srgbClr val="FF9100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267004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Кромка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766560" y="26700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обрезка по краям бобины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3163824"/>
            <a:ext cx="137160" cy="137160"/>
          </a:xfrm>
          <a:prstGeom prst="ellipse">
            <a:avLst/>
          </a:prstGeom>
          <a:solidFill>
            <a:srgbClr val="FF9100"/>
          </a:solidFill>
          <a:ln/>
        </p:spPr>
      </p:sp>
      <p:sp>
        <p:nvSpPr>
          <p:cNvPr id="27" name="Text 25"/>
          <p:cNvSpPr/>
          <p:nvPr/>
        </p:nvSpPr>
        <p:spPr>
          <a:xfrm>
            <a:off x="5120640" y="30998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Сортность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09981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сплав + толщина должны совпадать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121830"/>
          </a:solidFill>
          <a:ln w="12700">
            <a:solidFill>
              <a:srgbClr val="3030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886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заказ: ID • ширина (мм) • длина (м) • сплав • толщина • количество • очерёдность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448056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разместить все заказы на бобинах с минимальными обрезками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НАШ ПОДХОД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Кастомный алгоритм оптимизации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12183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Shelf Packing</a:t>
            </a:r>
            <a:pPr algn="ctr" indent="0" marL="0">
              <a:buNone/>
            </a:pPr>
            <a:r>
              <a:rPr lang="en-US" sz="20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+  </a:t>
            </a:r>
            <a:pPr algn="ctr" indent="0" marL="0">
              <a:buNone/>
            </a:pPr>
            <a:r>
              <a:rPr lang="en-US" sz="2800" b="1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Greedy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914400" y="2057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Эвристический алгоритм, адаптированный под реальные производственные ограничения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0175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00E5FF">
              <a:alpha val="1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017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 заказов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697480" y="30175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FF9100">
              <a:alpha val="15000"/>
            </a:srgbClr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3017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Заказы-спутники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0175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7C4DFF">
              <a:alpha val="15000"/>
            </a:srgbClr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3017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Rotation деталей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12280" y="3017520"/>
            <a:ext cx="1874520" cy="502920"/>
          </a:xfrm>
          <a:prstGeom prst="roundRect">
            <a:avLst>
              <a:gd name="adj" fmla="val 10909"/>
            </a:avLst>
          </a:prstGeom>
          <a:solidFill>
            <a:srgbClr val="00E676">
              <a:alpha val="1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12280" y="301752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Жадное заполнение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LP/ILP?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задач промышленного масштаба точные методы слишком медленны. Эвристика даёт результат за миллисекунды при приемлемом качестве.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АЛГОРИТМ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формируется раскрой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8412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МИНИМИЗАЦИЯ ОТХОДОВ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механизма снижения потерь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218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554480"/>
            <a:ext cx="822960" cy="822960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7373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Плотное заполнение ширины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ряд формируется так, чтобы максимально использовать доступные 1500 мм полосы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2183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554480"/>
            <a:ext cx="822960" cy="822960"/>
          </a:xfrm>
          <a:prstGeom prst="ellipse">
            <a:avLst/>
          </a:prstGeom>
          <a:solidFill>
            <a:srgbClr val="FF9100">
              <a:alpha val="20000"/>
            </a:srgbClr>
          </a:solidFill>
          <a:ln w="12700">
            <a:solidFill>
              <a:srgbClr val="FF910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3736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Заказы-спутники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7472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Свободное пространство рядом с основными заказами заполняется заказами младших очередей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128016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12183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95160" y="1554480"/>
            <a:ext cx="822960" cy="822960"/>
          </a:xfrm>
          <a:prstGeom prst="ellipse">
            <a:avLst/>
          </a:prstGeom>
          <a:solidFill>
            <a:srgbClr val="7C4DFF">
              <a:alpha val="20000"/>
            </a:srgbClr>
          </a:solidFill>
          <a:ln w="12700">
            <a:solidFill>
              <a:srgbClr val="7C4D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73736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25603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Rotation (поворот)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309360" y="31089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заказ лучше вписывается при повороте на 90°, алгоритм делает это автоматически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не считаем функцию потерь напрямую — минимизируем их через локальные решения на каждом шаге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РЕЗУЛЬТАТЫ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Метрики на тестовых данных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12183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5448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~19%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доля отходов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тестовом наборе данных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0" y="137160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2183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55448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сек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расчёта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2834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миллисекунды на полный план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121830"/>
          </a:solidFill>
          <a:ln w="12700">
            <a:solidFill>
              <a:srgbClr val="30305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Место для дополнения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890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[добавить среднее значение waste по нескольким запускам]    [добавить сравнение с baseline]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Полноценный инструмент, не просто алгоритм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121830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554480"/>
            <a:ext cx="594360" cy="59436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105156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" y="233172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CSV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57200" y="3291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заказов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справочник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межкройного реза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3317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2560320" y="137160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121830"/>
          </a:solidFill>
          <a:ln w="12700">
            <a:solidFill>
              <a:srgbClr val="FF910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46120" y="1554480"/>
            <a:ext cx="594360" cy="594360"/>
          </a:xfrm>
          <a:prstGeom prst="ellipse">
            <a:avLst/>
          </a:prstGeom>
          <a:solidFill>
            <a:srgbClr val="FF9100"/>
          </a:solidFill>
          <a:ln/>
        </p:spPr>
      </p:sp>
      <p:sp>
        <p:nvSpPr>
          <p:cNvPr id="17" name="Text 14"/>
          <p:cNvSpPr/>
          <p:nvPr/>
        </p:nvSpPr>
        <p:spPr>
          <a:xfrm>
            <a:off x="324612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233172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65176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2651760" y="3291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Shelf Packing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Greedy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алгоритм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2628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4754880" y="137160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12183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40680" y="1554480"/>
            <a:ext cx="594360" cy="594360"/>
          </a:xfrm>
          <a:prstGeom prst="ellipse">
            <a:avLst/>
          </a:prstGeom>
          <a:solidFill>
            <a:srgbClr val="00E676"/>
          </a:solidFill>
          <a:ln/>
        </p:spPr>
      </p:sp>
      <p:sp>
        <p:nvSpPr>
          <p:cNvPr id="24" name="Text 20"/>
          <p:cNvSpPr/>
          <p:nvPr/>
        </p:nvSpPr>
        <p:spPr>
          <a:xfrm>
            <a:off x="54406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2331720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84632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4846320" y="3291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Машинно-читаемая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инструкция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ЧПУ-станка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72084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9" name="Shape 24"/>
          <p:cNvSpPr/>
          <p:nvPr/>
        </p:nvSpPr>
        <p:spPr>
          <a:xfrm>
            <a:off x="6949440" y="1371600"/>
            <a:ext cx="1965960" cy="3017520"/>
          </a:xfrm>
          <a:prstGeom prst="roundRect">
            <a:avLst>
              <a:gd name="adj" fmla="val 4651"/>
            </a:avLst>
          </a:prstGeom>
          <a:solidFill>
            <a:srgbClr val="121830"/>
          </a:solidFill>
          <a:ln w="12700">
            <a:solidFill>
              <a:srgbClr val="7C4DF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635240" y="1554480"/>
            <a:ext cx="594360" cy="594360"/>
          </a:xfrm>
          <a:prstGeom prst="ellipse">
            <a:avLst/>
          </a:prstGeom>
          <a:solidFill>
            <a:srgbClr val="7C4DFF"/>
          </a:solidFill>
          <a:ln/>
        </p:spPr>
      </p:sp>
      <p:sp>
        <p:nvSpPr>
          <p:cNvPr id="31" name="Text 26"/>
          <p:cNvSpPr/>
          <p:nvPr/>
        </p:nvSpPr>
        <p:spPr>
          <a:xfrm>
            <a:off x="763524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233172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040880" y="292608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4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1400" dirty="0"/>
          </a:p>
        </p:txBody>
      </p:sp>
      <p:sp>
        <p:nvSpPr>
          <p:cNvPr id="34" name="Text 28"/>
          <p:cNvSpPr/>
          <p:nvPr/>
        </p:nvSpPr>
        <p:spPr>
          <a:xfrm>
            <a:off x="7040880" y="329184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Интерактивная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схема раскроя</a:t>
            </a:r>
            <a:endParaRPr lang="en-US" sz="10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канвасе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ИНТЕРФЕЙС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видит результат мгновенно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6400800" cy="35661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040880" y="1143000"/>
            <a:ext cx="1737360" cy="2926080"/>
          </a:xfrm>
          <a:prstGeom prst="roundRect">
            <a:avLst>
              <a:gd name="adj" fmla="val 4211"/>
            </a:avLst>
          </a:prstGeom>
          <a:solidFill>
            <a:srgbClr val="121830"/>
          </a:solidFill>
          <a:ln w="12700">
            <a:solidFill>
              <a:srgbClr val="30305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040880" y="1234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7890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ЛЕГЕНДА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223760" y="1645920"/>
            <a:ext cx="320040" cy="228600"/>
          </a:xfrm>
          <a:prstGeom prst="roundRect">
            <a:avLst>
              <a:gd name="adj" fmla="val 12000"/>
            </a:avLst>
          </a:prstGeom>
          <a:solidFill>
            <a:srgbClr val="1976D2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16276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Основной заказ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7223760" y="2103120"/>
            <a:ext cx="320040" cy="22860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/>
        </p:spPr>
      </p:sp>
      <p:sp>
        <p:nvSpPr>
          <p:cNvPr id="14" name="Text 11"/>
          <p:cNvSpPr/>
          <p:nvPr/>
        </p:nvSpPr>
        <p:spPr>
          <a:xfrm>
            <a:off x="7635240" y="2084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Спутник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223760" y="2560320"/>
            <a:ext cx="320040" cy="228600"/>
          </a:xfrm>
          <a:prstGeom prst="roundRect">
            <a:avLst>
              <a:gd name="adj" fmla="val 12000"/>
            </a:avLst>
          </a:prstGeom>
          <a:solidFill>
            <a:srgbClr val="EF5350"/>
          </a:solidFill>
          <a:ln/>
        </p:spPr>
      </p:sp>
      <p:sp>
        <p:nvSpPr>
          <p:cNvPr id="16" name="Text 13"/>
          <p:cNvSpPr/>
          <p:nvPr/>
        </p:nvSpPr>
        <p:spPr>
          <a:xfrm>
            <a:off x="7635240" y="25420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Межкройный рез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223760" y="3017520"/>
            <a:ext cx="320040" cy="228600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/>
        </p:spPr>
      </p:sp>
      <p:sp>
        <p:nvSpPr>
          <p:cNvPr id="18" name="Text 15"/>
          <p:cNvSpPr/>
          <p:nvPr/>
        </p:nvSpPr>
        <p:spPr>
          <a:xfrm>
            <a:off x="7635240" y="29992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Кромка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223760" y="3474720"/>
            <a:ext cx="320040" cy="228600"/>
          </a:xfrm>
          <a:prstGeom prst="roundRect">
            <a:avLst>
              <a:gd name="adj" fmla="val 12000"/>
            </a:avLst>
          </a:prstGeom>
          <a:solidFill>
            <a:srgbClr val="424242"/>
          </a:solidFill>
          <a:ln/>
        </p:spPr>
      </p:sp>
      <p:sp>
        <p:nvSpPr>
          <p:cNvPr id="20" name="Text 17"/>
          <p:cNvSpPr/>
          <p:nvPr/>
        </p:nvSpPr>
        <p:spPr>
          <a:xfrm>
            <a:off x="7635240" y="3456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Обрезки (отходы)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828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Технологический стек</a:t>
            </a:r>
            <a:endParaRPr lang="en-US" sz="2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84124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137160"/>
            <a:ext cx="1371600" cy="32004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4" name="Text 2"/>
          <p:cNvSpPr/>
          <p:nvPr/>
        </p:nvSpPr>
        <p:spPr>
          <a:xfrm>
            <a:off x="7498080" y="1371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0" y="48006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182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Готовое решение для производства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121830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325880" y="1645920"/>
            <a:ext cx="822960" cy="822960"/>
          </a:xfrm>
          <a:prstGeom prst="ellipse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82880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Автоматизация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автоматический расчёт раскроя — без ручного вмешательства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291840" y="137160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12183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160520" y="1645920"/>
            <a:ext cx="822960" cy="822960"/>
          </a:xfrm>
          <a:prstGeom prst="ellipse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288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E6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отходов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7472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~19% отходов на тестовых данных, алгоритм работает за миллисекунды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126480" y="1371600"/>
            <a:ext cx="2606040" cy="2560320"/>
          </a:xfrm>
          <a:prstGeom prst="roundRect">
            <a:avLst>
              <a:gd name="adj" fmla="val 3571"/>
            </a:avLst>
          </a:prstGeom>
          <a:solidFill>
            <a:srgbClr val="121830"/>
          </a:solidFill>
          <a:ln w="19050">
            <a:solidFill>
              <a:srgbClr val="FF910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995160" y="1645920"/>
            <a:ext cx="822960" cy="822960"/>
          </a:xfrm>
          <a:prstGeom prst="ellipse">
            <a:avLst/>
          </a:prstGeom>
          <a:solidFill>
            <a:srgbClr val="FF9100">
              <a:alpha val="20000"/>
            </a:srgbClr>
          </a:solidFill>
          <a:ln w="12700">
            <a:solidFill>
              <a:srgbClr val="FF91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82880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263640" y="26060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Готовый продукт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6309360" y="301752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+ JSON-инструкция для ЧПУ — можно применять уже сейчас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2286000" y="420624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00E5FF"/>
          </a:solidFill>
          <a:ln/>
        </p:spPr>
      </p:sp>
      <p:sp>
        <p:nvSpPr>
          <p:cNvPr id="24" name="Text 19"/>
          <p:cNvSpPr/>
          <p:nvPr/>
        </p:nvSpPr>
        <p:spPr>
          <a:xfrm>
            <a:off x="2286000" y="4206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АЗЕМПИК  —  Спасибо за внимание!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Оптимизация раскроя — Аземпик</dc:title>
  <dc:subject>PptxGenJS Presentation</dc:subject>
  <dc:creator>Аземпик</dc:creator>
  <cp:lastModifiedBy>Аземпик</cp:lastModifiedBy>
  <cp:revision>1</cp:revision>
  <dcterms:created xsi:type="dcterms:W3CDTF">2026-04-20T08:51:08Z</dcterms:created>
  <dcterms:modified xsi:type="dcterms:W3CDTF">2026-04-20T08:51:08Z</dcterms:modified>
</cp:coreProperties>
</file>